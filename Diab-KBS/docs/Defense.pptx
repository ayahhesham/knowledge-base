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GRADUATION-STYLE PROJECT  ·  KNOWLEDGE-BASED SYSTEMS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Diab-KBS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Hybrid Knowledge-Based System for Diabetes Diagnosis,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Stratification &amp; Clinical Decision Support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371600" cy="4572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Aya Hesham Ali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&amp; Artificial Intelligence  ·  Helwan University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Knowledge-Based Systems  ·  Instructor: Dr. Sayed AbdelGaber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08760" y="2240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Course-Concept Coverage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0876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CommonKADS — 6 Models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08760" y="3611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0876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Design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983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08760" y="4983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 + Certainty Factors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78040" y="1554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Acquisition Pipeline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Big-Data Analytics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2926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7804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Walk-through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36118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178040" y="3611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4297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7804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Future Work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00800" y="4983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178040" y="4983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·  Q &amp; 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WHY THIS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03520" cy="12344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537 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living with diabetes worldwide (IDF Atlas, 2021)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303520" cy="12344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63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10.9 %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among Egyptian adults — among the highest in MENA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5303520" cy="1234440"/>
          </a:xfrm>
          <a:prstGeom prst="rect">
            <a:avLst/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805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 50 %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remain undiagnosed in low-resource settings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5577840" cy="4480560"/>
          </a:xfrm>
          <a:prstGeom prst="rect">
            <a:avLst/>
          </a:prstGeom>
          <a:solidFill>
            <a:srgbClr val="1E2A2E"/>
          </a:solidFill>
          <a:ln w="12700">
            <a:solidFill>
              <a:srgbClr val="1E2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55080" y="2194560"/>
            <a:ext cx="640080" cy="36576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578608"/>
            <a:ext cx="128016" cy="128016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4231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KBS — symbolic (rules + frames + semantic net) plus data-driven rule mining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291840"/>
            <a:ext cx="128016" cy="128016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13639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directly on a real Egyptian cohort of 12,204 patients (37 features)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4005072"/>
            <a:ext cx="128016" cy="128016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84962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+ backward chaining inference with MYCIN certainty factors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4718304"/>
            <a:ext cx="128016" cy="128016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56285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exposes all 7 modules — diagnosis, risk, analytics, KB browser, validation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5431536"/>
            <a:ext cx="128016" cy="128016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527608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every CommonKADS model — explicit knowledge engineering, not a black box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EVERY LECTURE → IMPLEMENTATION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Course-Concept Coverage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64208" y="14173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96128" y="1417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in Diab-KBS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11247120" cy="5486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74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64208" y="1874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Information → Knowledge → Wisdom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96128" y="18745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DIKW pyramid driving the dashboard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solidFill>
            <a:srgbClr val="F7F6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64208" y="2423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KBS architecture &amp; components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96128" y="24231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app: KB · inference · UI (Streamlit)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11247120" cy="5486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971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64208" y="2971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96128" y="29718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production rules · 13 frames · 35-node semantic net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11247120" cy="548640"/>
          </a:xfrm>
          <a:prstGeom prst="rect">
            <a:avLst/>
          </a:prstGeom>
          <a:solidFill>
            <a:srgbClr val="F7F6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520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64208" y="3520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&amp; reasoning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96128" y="35204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+ backward chaining + MYCIN CF algebra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11247120" cy="5486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069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64208" y="40690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acquisition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96128" y="40690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pipeline: elicit · structure · validate · refine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11247120" cy="548640"/>
          </a:xfrm>
          <a:prstGeom prst="rect">
            <a:avLst/>
          </a:prstGeom>
          <a:solidFill>
            <a:srgbClr val="F7F6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617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64208" y="4617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CommonKADS methodology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96128" y="46177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models documented in research paper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166360"/>
            <a:ext cx="11247120" cy="5486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5166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664208" y="51663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Big-Data analytics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96128" y="51663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rule mining + cohort KPIs on 12,204 records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lecture themes are explicitly traceable to a code module or paper section.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LECTURE 1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DIKW — Convergence from Data to Intelligence</a:t>
            </a:r>
            <a:endParaRPr lang="en-US" sz="3000" dirty="0"/>
          </a:p>
        </p:txBody>
      </p:sp>
      <p:pic>
        <p:nvPicPr>
          <p:cNvPr id="6" name="Image 0" descr="/home/user/workspace/Diab-KBS/assets/dikw_pyra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94360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66560" y="1554480"/>
            <a:ext cx="109728" cy="96012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040880" y="19202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12,204 raw records  ·  37 features (HbA1c, BMI, FPG, symptoms…)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2697480"/>
            <a:ext cx="109728" cy="960120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2697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040880" y="30632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 derived categorical fields (HbA1c_cat, BMI_cat, age band)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766560" y="3840480"/>
            <a:ext cx="109728" cy="9601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0" y="3840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040880" y="42062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production rules + 13 frames + 35-node semantic network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766560" y="4983480"/>
            <a:ext cx="109728" cy="960120"/>
          </a:xfrm>
          <a:prstGeom prst="rect">
            <a:avLst/>
          </a:prstGeom>
          <a:solidFill>
            <a:srgbClr val="A12C7B"/>
          </a:solidFill>
          <a:ln w="12700">
            <a:solidFill>
              <a:srgbClr val="A12C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4983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Wisdom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040880" y="53492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diagnosis + treatment plan + complication risk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LECTURE 6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CommonKADS — Six Models</a:t>
            </a:r>
            <a:endParaRPr lang="en-US" sz="3000" dirty="0"/>
          </a:p>
        </p:txBody>
      </p:sp>
      <p:pic>
        <p:nvPicPr>
          <p:cNvPr id="6" name="Image 0" descr="/home/user/workspace/Diab-KBS/assets/commonkads_mod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1554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Helwan teaching-hospital outpatient clinic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331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0" y="2651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· risk-rank · suggest first-line treatment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3108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3429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Endocrinologist (current) → KBS-assisted (target)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3886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0" y="4206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rules · 13 frames · 35-node semantic net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0" y="4663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0" y="49834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with explainable derivations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0" y="5440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0" y="5760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Streamlit, 3-tier hybrid architecture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3-TIER + KA PIPELINE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6" name="Image 0" descr="/home/user/workspace/Diab-KBS/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(Streamlit)  →  Inference Engine (Python)  →  Knowledge Base (JSON)  ·  fed by the 5-stage Knowledge Acquisition pipeline.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EXTRACT → DECIDE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Workflow</a:t>
            </a:r>
            <a:endParaRPr lang="en-US" sz="3000" dirty="0"/>
          </a:p>
        </p:txBody>
      </p:sp>
      <p:pic>
        <p:nvPicPr>
          <p:cNvPr id="6" name="Image 0" descr="/home/user/workspace/Diab-KBS/assets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532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5806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→  pandas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31720" y="5532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31720" y="5806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12,204 rows kept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06240" y="5532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06240" y="5806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features unified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0760" y="5532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80760" y="5806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rules (sup ≥ 0.05)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955280" y="5532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5806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+ NetworkX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829800" y="5532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829800" y="5806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 treatment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32 RULES, 4 CATEGORIES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Base — Production Rules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03520" cy="77724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" cy="7772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5303520" cy="77724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68880"/>
            <a:ext cx="109728" cy="777240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Factor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5303520" cy="77724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83280"/>
            <a:ext cx="109728" cy="777240"/>
          </a:xfrm>
          <a:prstGeom prst="rect">
            <a:avLst/>
          </a:prstGeom>
          <a:solidFill>
            <a:srgbClr val="A12C7B"/>
          </a:solidFill>
          <a:ln w="12700">
            <a:solidFill>
              <a:srgbClr val="A12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Complication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rules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3832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A12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5303520" cy="77724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97680"/>
            <a:ext cx="109728" cy="77724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42976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035040" y="1554480"/>
            <a:ext cx="5760720" cy="4572000"/>
          </a:xfrm>
          <a:prstGeom prst="rect">
            <a:avLst/>
          </a:prstGeom>
          <a:solidFill>
            <a:srgbClr val="1E2A2E"/>
          </a:solidFill>
          <a:ln w="12700">
            <a:solidFill>
              <a:srgbClr val="1E2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AB9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 ·  Rule R17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2194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0" y="2148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= "Type 2 Diabetes Mellitus"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 7.5 ≤ HbA1c &lt; 9.0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32918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78040" y="324612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recommended_treatment 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Dual therapy: Metformin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 (SGLT2-i / GLP-1 RA / DPP4-i)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63640" y="5532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0.85   ·   Lecture-3 reference: rule chaining w/ certainty factors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STRUCTURED REPRESENTATION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Frames &amp; Semantic Network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577840" cy="466344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Frames — 13 total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inheritance modelling the diabetes domain.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MedicalEntity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3317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slots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 Medical…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697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slots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 Person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063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slots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 Medical…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429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slots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DiabetesMellitus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 Disease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794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slots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Type1Diabetes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 Diabetes…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160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slots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Type2Diabetes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 Diabetes…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4526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slots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892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34640" y="4892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 Diabetes…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4892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slots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257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34640" y="5257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 Medical…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5257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slots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LabResult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34640" y="5623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 Medical…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5623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slots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1463040"/>
            <a:ext cx="5486400" cy="466344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Network — 35 nodes  ·  35 edges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44652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types relate diseases, symptoms, labs and treatments.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46520" y="242316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F7F6F2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052560" y="242316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F7F6F2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52560" y="2423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part_of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46520" y="292608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F7F6F2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has_symptom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052560" y="292608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F7F6F2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52560" y="29260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446520" y="34290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F7F6F2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treated_by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052560" y="342900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F7F6F2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5256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46520" y="393192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F7F6F2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3931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increases_risk_of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446520" y="51206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interactively with NetworkX + Plotly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dashboard's "Knowledge Base Browser" page.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FORWARD + BACKWARD CHAINING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Engine</a:t>
            </a:r>
            <a:endParaRPr lang="en-US" sz="3000" dirty="0"/>
          </a:p>
        </p:txBody>
      </p:sp>
      <p:pic>
        <p:nvPicPr>
          <p:cNvPr id="6" name="Image 0" descr="/home/user/workspace/Diab-KBS/assets/inferenc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31520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55280" y="1417320"/>
            <a:ext cx="3840480" cy="4572000"/>
          </a:xfrm>
          <a:prstGeom prst="rect">
            <a:avLst/>
          </a:prstGeom>
          <a:solidFill>
            <a:srgbClr val="1E2A2E"/>
          </a:solidFill>
          <a:ln w="12700">
            <a:solidFill>
              <a:srgbClr val="1E2A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AB9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3816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138160" y="2331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— from observed labs / symptoms to diagnosis &amp; treatment.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816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Backward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138160" y="3474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— verify a hypothesised diagnosis by checking required premises.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4434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resolution: highest-CF rule fires first;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 keys multi-valued slots as slot::value.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REASONING UNDER UNCERTAINTY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Certainty Factors  (MYCIN Algebra)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7132320" cy="457200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Combining evidence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Same-sign: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CF(combined) = CF₁ + CF₂ · (1 − CF₁)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Opposite-sign: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CF(combined) = (CF₁ + CF₂) / (1 − min(|CF₁|,|CF₂|))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a rule fires: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4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CF(conclusion) = CF(rule) · max(0, CF(premise))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for accepted conclusion in dashboard: |CF| ≥ 0.50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3492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rule CFs are stored in knowledge_base/rules.json — calibrated against ADA &amp; WHO guidelines.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1508760"/>
            <a:ext cx="4023360" cy="4572000"/>
          </a:xfrm>
          <a:prstGeom prst="rect">
            <a:avLst/>
          </a:prstGeom>
          <a:solidFill>
            <a:srgbClr val="1E2A2E"/>
          </a:solidFill>
          <a:ln w="12700">
            <a:solidFill>
              <a:srgbClr val="1E2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AB9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552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FPG_cat = "diabetes"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CF₁ = 0.92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HbA1c_cat = "diabetes"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CF₂ = 0.95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same-sign rule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= 0.996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528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5528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LECTURE 5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Acquisition Pipeline</a:t>
            </a:r>
            <a:endParaRPr lang="en-US" sz="3000" dirty="0"/>
          </a:p>
        </p:txBody>
      </p:sp>
      <p:pic>
        <p:nvPicPr>
          <p:cNvPr id="6" name="Image 0" descr="/home/user/workspace/Diab-KBS/assets/ka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1124712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57784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Elicit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589788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literature, ADA/WHO guidelines, Egyptian protocols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06624" y="557784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Structure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06624" y="589788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as rules · frames · semantic edges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56048" y="557784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Mine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56048" y="589788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on 12,204 patients (sup ≥ 0.05, conf ≥ 0.70)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205472" y="557784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Validate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205472" y="589788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forward chaining on 4,893-patient hold-out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454896" y="5577840"/>
            <a:ext cx="224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Refine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454896" y="589788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CFs · merge mined rules · iterate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LECTURE 7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Big-Data Analytics on the Cohort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743200" cy="14173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12,204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in DB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743200" cy="14173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600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4,207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2044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T2DM (34.5 %)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08760"/>
            <a:ext cx="2743200" cy="14173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00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3,217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4652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Hypertensive (26.4 %)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35440" y="1508760"/>
            <a:ext cx="2743200" cy="14173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1600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12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4,874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37260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Obese (39.9 %)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11247120" cy="2926080"/>
          </a:xfrm>
          <a:prstGeom prst="rect">
            <a:avLst/>
          </a:prstGeom>
          <a:solidFill>
            <a:srgbClr val="1E2A2E"/>
          </a:solidFill>
          <a:ln w="12700">
            <a:solidFill>
              <a:srgbClr val="1E2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AB9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mined association rules — Apriori on cleaned cohort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LHS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RHS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4984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HbA1c_cat = diabetes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= T2DM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4984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BMI_cat = obese &amp; age ≥ 45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= T2DM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4572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49840" y="4572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5029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HTN = 1 &amp; diagnosis = T2DM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= CV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5029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14984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5486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≥ 9 &amp; diagnosis = T2DM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93192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= high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5486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1040" y="5486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49840" y="5486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STREAMLIT FRONT-END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— Overview Page</a:t>
            </a:r>
            <a:endParaRPr lang="en-US" sz="3000" dirty="0"/>
          </a:p>
        </p:txBody>
      </p:sp>
      <p:pic>
        <p:nvPicPr>
          <p:cNvPr id="6" name="Image 0" descr="/home/user/workspace/Diab-KBS/assets/screens/dashboar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868680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326880" y="1417320"/>
            <a:ext cx="2468880" cy="457200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64040" y="15087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464040" y="2057400"/>
            <a:ext cx="109728" cy="109728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4692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464040" y="2560320"/>
            <a:ext cx="109728" cy="109728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46920" y="2423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Diagnosis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464040" y="3063240"/>
            <a:ext cx="109728" cy="109728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4692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Stratification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464040" y="3566160"/>
            <a:ext cx="109728" cy="109728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4692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Big-Data Analytics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464040" y="4069080"/>
            <a:ext cx="109728" cy="109728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46920" y="3931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Gallery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464040" y="4572000"/>
            <a:ext cx="109728" cy="109728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46920" y="4434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Browser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464040" y="5074920"/>
            <a:ext cx="109728" cy="109728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46920" y="4937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N = 4,893 PATIENTS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Results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103120" cy="14173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81.4 %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508760"/>
            <a:ext cx="2103120" cy="14173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600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4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78.2 %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8036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2103120" cy="14173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600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87.2 %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16636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508760"/>
            <a:ext cx="2103120" cy="14173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600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12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91.7 %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45236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0" y="1508760"/>
            <a:ext cx="2103120" cy="141732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38360" y="1600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0.844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73836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926080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83280" y="3657600"/>
            <a:ext cx="2377440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 Diabetic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3657600"/>
            <a:ext cx="2377440" cy="45720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 Healthy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2926080" cy="64008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Diabetic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83280" y="4114800"/>
            <a:ext cx="2377440" cy="640080"/>
          </a:xfrm>
          <a:prstGeom prst="rect">
            <a:avLst/>
          </a:prstGeom>
          <a:solidFill>
            <a:srgbClr val="F7F6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TP = 2,467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760720" y="4114800"/>
            <a:ext cx="2377440" cy="640080"/>
          </a:xfrm>
          <a:prstGeom prst="rect">
            <a:avLst/>
          </a:prstGeom>
          <a:solidFill>
            <a:srgbClr val="F7F6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2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FN = 688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2926080" cy="64008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754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Healthy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383280" y="4754880"/>
            <a:ext cx="2377440" cy="640080"/>
          </a:xfrm>
          <a:prstGeom prst="rect">
            <a:avLst/>
          </a:prstGeom>
          <a:solidFill>
            <a:srgbClr val="F7F6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4754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2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 = 223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760720" y="4754880"/>
            <a:ext cx="2377440" cy="640080"/>
          </a:xfrm>
          <a:prstGeom prst="rect">
            <a:avLst/>
          </a:prstGeom>
          <a:solidFill>
            <a:srgbClr val="F7F6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4754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TN = 1,515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503920" y="3246120"/>
            <a:ext cx="3291840" cy="2743200"/>
          </a:xfrm>
          <a:prstGeom prst="rect">
            <a:avLst/>
          </a:prstGeom>
          <a:solidFill>
            <a:srgbClr val="1E2A2E"/>
          </a:solidFill>
          <a:ln w="12700">
            <a:solidFill>
              <a:srgbClr val="1E2A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AB9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numbers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686800" y="3867912"/>
            <a:ext cx="109728" cy="109728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0" y="37033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91.7 % precision: when the KBS predicts diabetes, it is correct ~9 times out of 10.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86800" y="4581144"/>
            <a:ext cx="109728" cy="109728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69680" y="441655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78.2 % sensitivity: 22 % of cases missed — next iteration adds prediabetes rules.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686800" y="5294376"/>
            <a:ext cx="109728" cy="109728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69680" y="5129784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87.2 % keeps the false-alarm rate manageable for clinic workflow.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PYTHON · STREAMLIT · JSON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Front-end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31720" y="1554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Plotly  ·  NetworkX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486400" cy="64008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54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83880" y="1554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engine  ·  MYCIN CF algebra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5486400" cy="64008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22860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·  rules · frames · semantic_net · mined_rules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5486400" cy="64008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286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83880" y="22860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·  numpy  ·  CSV / Excel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5486400" cy="64008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30175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 Apriori  ·  scikit-learn metrics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09360" y="3017520"/>
            <a:ext cx="5486400" cy="64008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83880" y="30175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·  Plotly Express  ·  PIL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49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31720" y="37490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 ·  python-pptx / pptxgenjs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1E2A2E"/>
          </a:solidFill>
          <a:ln w="12700">
            <a:solidFill>
              <a:srgbClr val="1E2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846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B9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layout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Diab-KBS/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app.py                  Streamlit dashboard (7 pages)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kbs/                    inference engine + certainty factors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knowledge_base/         rules · frames · semantic_net · mined_rules (.json)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data/                   patients_clean.csv · kpis.json · validation_results.json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notebooks/              preprocess · mine · validate · diagrams · paper · deck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docs/                   Research_Paper.pdf · Defense.pptx · assets/*.png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HONEST APPRAISAL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— Strengths &amp; Limits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77840" cy="457200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304288"/>
            <a:ext cx="128016" cy="128016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explainable — full rule chain visible to the clinician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898648"/>
            <a:ext cx="128016" cy="128016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cleanly separated from inference — KB editable as JSON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93008"/>
            <a:ext cx="128016" cy="128016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hand-curated rules + data-mined rules complement each other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087368"/>
            <a:ext cx="128016" cy="128016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Egyptian cohort grounds the system in local epidemiology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681728"/>
            <a:ext cx="128016" cy="128016"/>
          </a:xfrm>
          <a:prstGeom prst="ellipse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CommonKADS coverage demonstrates rigorous knowledge engineering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508760"/>
            <a:ext cx="5486400" cy="4572000"/>
          </a:xfrm>
          <a:prstGeom prst="rect">
            <a:avLst/>
          </a:prstGeom>
          <a:solidFill>
            <a:srgbClr val="FBFBF9"/>
          </a:solidFill>
          <a:ln w="9525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Limits &amp; Future Work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83680" y="2304288"/>
            <a:ext cx="128016" cy="128016"/>
          </a:xfrm>
          <a:prstGeom prst="ellipse">
            <a:avLst/>
          </a:prstGeom>
          <a:solidFill>
            <a:srgbClr val="A12C7B"/>
          </a:solidFill>
          <a:ln w="12700">
            <a:solidFill>
              <a:srgbClr val="A12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78 % — currently misses borderline / prediabetes cases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2898648"/>
            <a:ext cx="128016" cy="128016"/>
          </a:xfrm>
          <a:prstGeom prst="ellipse">
            <a:avLst/>
          </a:prstGeom>
          <a:solidFill>
            <a:srgbClr val="A12C7B"/>
          </a:solidFill>
          <a:ln w="12700">
            <a:solidFill>
              <a:srgbClr val="A12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 base — no online learning from new patients yet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493008"/>
            <a:ext cx="128016" cy="128016"/>
          </a:xfrm>
          <a:prstGeom prst="ellipse">
            <a:avLst/>
          </a:prstGeom>
          <a:solidFill>
            <a:srgbClr val="A12C7B"/>
          </a:solidFill>
          <a:ln w="12700">
            <a:solidFill>
              <a:srgbClr val="A12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Single-cohort validation — needs prospective multi-site study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4087368"/>
            <a:ext cx="128016" cy="128016"/>
          </a:xfrm>
          <a:prstGeom prst="ellipse">
            <a:avLst/>
          </a:prstGeom>
          <a:solidFill>
            <a:srgbClr val="A12C7B"/>
          </a:solidFill>
          <a:ln w="12700">
            <a:solidFill>
              <a:srgbClr val="A12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NLP yet — clinician notes ingested only as structured fields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4681728"/>
            <a:ext cx="128016" cy="128016"/>
          </a:xfrm>
          <a:prstGeom prst="ellipse">
            <a:avLst/>
          </a:prstGeom>
          <a:solidFill>
            <a:srgbClr val="A12C7B"/>
          </a:solidFill>
          <a:ln w="12700">
            <a:solidFill>
              <a:srgbClr val="A12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45262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integrate ontology (SNOMED-CT) and federated learning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371600" cy="4572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70632"/>
            <a:ext cx="146304" cy="146304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demonstrates the full course material — DIKW, KR, inference, KA, CommonKADS, big-data analytics — on a real 12,204-patient cohort.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639312"/>
            <a:ext cx="146304" cy="146304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+ backward chaining with MYCIN certainty factors deliver explainable, calibrated diagnoses (Accuracy 81.4 %, F1 0.844).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38912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dashboard surfaces the entire knowledge base for clinicians, students, and examiners.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5376672"/>
            <a:ext cx="146304" cy="146304"/>
          </a:xfrm>
          <a:prstGeom prst="ellipse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257800"/>
            <a:ext cx="10561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reusable for any guideline-driven medical KBS — swap the knowledge base, keep the engine.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·  WHAT YOU RECEIVE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Deliverables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109728" cy="5486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554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Diab-KBS/  ·  app.py + kbs/ + notebooks/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94560"/>
            <a:ext cx="109728" cy="5486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194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rules.json · frames.json · semantic_net.json · mined_rules.json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109728" cy="5486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34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Cleaned dataset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2834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data/patients_clean.csv  ·  12,204 × 37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74720"/>
            <a:ext cx="109728" cy="5486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474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paper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474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docs/Research_Paper.pdf  ·  25 pages, 6 figures, 12 references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14800"/>
            <a:ext cx="109728" cy="5486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14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deck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docs/Defense.pptx  ·  this presentation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754880"/>
            <a:ext cx="109728" cy="5486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754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57600" y="4754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7 interactive pages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solidFill>
            <a:srgbClr val="FBFBF9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5394960"/>
            <a:ext cx="109728" cy="5486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394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57600" y="5394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assets/*.png  ·  6 publication-ready figures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Diab-KBS  ·  Diabetes Knowledge-Based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76895" y="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·  KEY SOURCES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Selected References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Shortliffe, E. H. (1976). Computer-Based Medical Consultations: MYCIN. Elsevier.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Buchanan, B. G., &amp; Shortliffe, E. H. (1984). Rule-Based Expert Systems. Addison-Wesley.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40864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Schreiber, G. et al. (2000). Knowledge Engineering and Management — The CommonKADS Methodology. MIT Press.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Studer, R., Benjamins, V. R., &amp; Fensel, D. (1998). Knowledge engineering: principles and methods. Data &amp; Knowledge Engineering, 25(1–2), 161–197.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1868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Russell, S., &amp; Norvig, P. (2020). Artificial Intelligence: A Modern Approach (4th ed.), Chs 8–9. Pearson.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American Diabetes Association (2024). Standards of Medical Care in Diabetes. Diabetes Care 47(Suppl 1).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9651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World Health Organization (2019). Classification of diabetes mellitus.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35424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El-Sappagh, S. et al. (2018). Ontology + rule clinical DSS for diabetes. J Biomed Inform 84:124–138.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974336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International Diabetes Federation (2021). IDF Diabetes Atlas, 10th edition.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413248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Newell, A. (1982). The knowledge level. Artificial Intelligence, 18(1), 87–127.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27729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Helwan University, FCAI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AB9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1371600" cy="45720"/>
          </a:xfrm>
          <a:prstGeom prst="rect">
            <a:avLst/>
          </a:prstGeom>
          <a:solidFill>
            <a:srgbClr val="A84B2F"/>
          </a:solidFill>
          <a:ln w="12700">
            <a:solidFill>
              <a:srgbClr val="A84B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Hesham Ali  ·  Faculty of Computers &amp; AI, Helwan University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Knowledge-Based Systems  ·  Instructor: Dr. Sayed AbdelGaber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B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aya.hesham.ali.pbis2026@commerce.helwan.edu.eg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Faculty of Computers and AI, Helwan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Diab-KBS - Knowledge-Based System for Diabetes Diagnosis</dc:title>
  <dc:subject>PptxGenJS Presentation</dc:subject>
  <dc:creator>Aya Hesham Ali</dc:creator>
  <cp:lastModifiedBy>Aya Hesham Ali</cp:lastModifiedBy>
  <cp:revision>1</cp:revision>
  <dcterms:created xsi:type="dcterms:W3CDTF">2026-05-07T22:45:40Z</dcterms:created>
  <dcterms:modified xsi:type="dcterms:W3CDTF">2026-05-07T22:45:40Z</dcterms:modified>
</cp:coreProperties>
</file>